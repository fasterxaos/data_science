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ster Xaos" initials="FX" lastIdx="1" clrIdx="0">
    <p:extLst>
      <p:ext uri="{19B8F6BF-5375-455C-9EA6-DF929625EA0E}">
        <p15:presenceInfo xmlns:p15="http://schemas.microsoft.com/office/powerpoint/2012/main" userId="27527cb99d2258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8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87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97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4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8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1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11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9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36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676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852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99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670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454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023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5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2F956A9-18AF-47F8-A069-60FBB0BDFF2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628770B-8655-4145-B5CA-E8ADB9E08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440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D5188-10F5-46D1-88D8-7CFDAE98D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073" y="1283009"/>
            <a:ext cx="11382350" cy="2603191"/>
          </a:xfrm>
        </p:spPr>
        <p:txBody>
          <a:bodyPr wrap="square">
            <a:noAutofit/>
          </a:bodyPr>
          <a:lstStyle/>
          <a:p>
            <a:pPr algn="ctr"/>
            <a:r>
              <a:rPr lang="en-US" sz="4800" dirty="0"/>
              <a:t>Demystifying Synthetic Data in LLM Pre-training:</a:t>
            </a:r>
            <a:br>
              <a:rPr lang="en-US" sz="4800" dirty="0"/>
            </a:br>
            <a:r>
              <a:rPr lang="en-US" sz="4800" dirty="0"/>
              <a:t>A Systematic Study of Scaling Laws, Benefits, and</a:t>
            </a:r>
            <a:br>
              <a:rPr lang="en-US" sz="4800" dirty="0"/>
            </a:br>
            <a:r>
              <a:rPr lang="en-US" sz="4800" dirty="0"/>
              <a:t>Pitfalls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9D3FB0-7595-4DC3-B227-72D2A86A3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0765" y="4984432"/>
            <a:ext cx="2135658" cy="1181116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rgbClr val="FFFF00"/>
                </a:solidFill>
              </a:rPr>
              <a:t>Подготовил:</a:t>
            </a:r>
          </a:p>
          <a:p>
            <a:r>
              <a:rPr lang="ru-RU" dirty="0">
                <a:solidFill>
                  <a:srgbClr val="FFFF00"/>
                </a:solidFill>
              </a:rPr>
              <a:t>Абрахин Е. Д.</a:t>
            </a:r>
          </a:p>
          <a:p>
            <a:r>
              <a:rPr lang="ru-RU" dirty="0">
                <a:solidFill>
                  <a:srgbClr val="FFFF00"/>
                </a:solidFill>
              </a:rPr>
              <a:t>23.Б15-пу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A4496-A587-4152-B409-ECCDB4231459}"/>
              </a:ext>
            </a:extLst>
          </p:cNvPr>
          <p:cNvSpPr txBox="1"/>
          <p:nvPr/>
        </p:nvSpPr>
        <p:spPr>
          <a:xfrm>
            <a:off x="8412306" y="3059668"/>
            <a:ext cx="340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https://arxiv.org/abs/2510.01631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637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3162E-7891-410D-8D41-2A18EAA9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важно?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BAAE1-94FB-41AF-95F0-6E4A84041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Данные для пре-тренинга LLM иссякают: веб-данные ограничены, качество падает.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Синтетические данные — потенциал для масштаба, но</a:t>
            </a:r>
            <a:r>
              <a:rPr lang="en-US" dirty="0"/>
              <a:t> </a:t>
            </a:r>
            <a:r>
              <a:rPr lang="ru-RU" dirty="0"/>
              <a:t>влечет риски: модельный коллапс, низкая производительность.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Цель</a:t>
            </a:r>
            <a:r>
              <a:rPr lang="ru-RU" dirty="0"/>
              <a:t>: понять, когда синтетика помогает/вредит; ускорить обучение через смеси синтетики и натуральных данных.</a:t>
            </a: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Вклад</a:t>
            </a:r>
            <a:r>
              <a:rPr lang="ru-RU" dirty="0"/>
              <a:t>: анализ &gt;1000 моделей, потрачено &gt;100k GPU-часов; рекомендации по пропорциям.</a:t>
            </a:r>
          </a:p>
        </p:txBody>
      </p:sp>
    </p:spTree>
    <p:extLst>
      <p:ext uri="{BB962C8B-B14F-4D97-AF65-F5344CB8AC3E}">
        <p14:creationId xmlns:p14="http://schemas.microsoft.com/office/powerpoint/2010/main" val="138734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3162E-7891-410D-8D41-2A18EAA9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BAAE1-94FB-41AF-95F0-6E4A8404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680114" cy="466725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4200"/>
              </a:spcAft>
              <a:buNone/>
            </a:pPr>
            <a:r>
              <a:rPr lang="ru-RU" dirty="0">
                <a:solidFill>
                  <a:srgbClr val="FFFF00"/>
                </a:solidFill>
              </a:rPr>
              <a:t>RQ1</a:t>
            </a:r>
            <a:r>
              <a:rPr lang="ru-RU" dirty="0"/>
              <a:t>: Как синтетические данные влияют на законы масштабирования (scaling laws) в процессе предобучения моделей?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4200"/>
              </a:spcAft>
              <a:buNone/>
            </a:pPr>
            <a:r>
              <a:rPr lang="ru-RU" dirty="0">
                <a:solidFill>
                  <a:srgbClr val="FFFF00"/>
                </a:solidFill>
              </a:rPr>
              <a:t>RQ2:</a:t>
            </a:r>
            <a:r>
              <a:rPr lang="ru-RU" dirty="0"/>
              <a:t> Как тип генерации синтетики (</a:t>
            </a:r>
            <a:r>
              <a:rPr lang="en-US" dirty="0"/>
              <a:t>rephrasing</a:t>
            </a:r>
            <a:r>
              <a:rPr lang="ru-RU" dirty="0"/>
              <a:t> vs. </a:t>
            </a:r>
            <a:r>
              <a:rPr lang="en-US" dirty="0"/>
              <a:t>textbooks</a:t>
            </a:r>
            <a:r>
              <a:rPr lang="ru-RU" dirty="0"/>
              <a:t>) сказывается на конечной производительности моделей?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4200"/>
              </a:spcAft>
              <a:buNone/>
            </a:pPr>
            <a:r>
              <a:rPr lang="ru-RU" dirty="0">
                <a:solidFill>
                  <a:srgbClr val="FFFF00"/>
                </a:solidFill>
              </a:rPr>
              <a:t>RQ3</a:t>
            </a:r>
            <a:r>
              <a:rPr lang="ru-RU" dirty="0"/>
              <a:t>: Как оптимально комбинировать синтетические и натуральные данные? В частности, какие пропорции смешивания и размеры моделей обеспечивают наилучшие результаты?</a:t>
            </a:r>
          </a:p>
        </p:txBody>
      </p:sp>
    </p:spTree>
    <p:extLst>
      <p:ext uri="{BB962C8B-B14F-4D97-AF65-F5344CB8AC3E}">
        <p14:creationId xmlns:p14="http://schemas.microsoft.com/office/powerpoint/2010/main" val="370709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29849-BEDC-4D4D-8D99-62D6AF82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Краткий тезис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12ABF1-EB5F-4C85-964F-A2E45470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Синтетические данные в смесях с натуральными ускоряют сходимость моделей в 5–10 раз, но использование чистой синтетики приводит к худшим результатам по сравнению с натуральными.</a:t>
            </a:r>
          </a:p>
          <a:p>
            <a:r>
              <a:rPr lang="ru-RU" dirty="0">
                <a:solidFill>
                  <a:schemeClr val="tx1"/>
                </a:solidFill>
              </a:rPr>
              <a:t>Оптимальные пропорции: около 30% для </a:t>
            </a:r>
            <a:r>
              <a:rPr lang="ru-RU" dirty="0" err="1">
                <a:solidFill>
                  <a:schemeClr val="tx1"/>
                </a:solidFill>
              </a:rPr>
              <a:t>rephrased</a:t>
            </a:r>
            <a:r>
              <a:rPr lang="ru-RU" dirty="0">
                <a:solidFill>
                  <a:schemeClr val="tx1"/>
                </a:solidFill>
              </a:rPr>
              <a:t> и менее 5% в стиле </a:t>
            </a:r>
            <a:r>
              <a:rPr lang="ru-RU" dirty="0" err="1">
                <a:solidFill>
                  <a:schemeClr val="tx1"/>
                </a:solidFill>
              </a:rPr>
              <a:t>textbooks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r>
              <a:rPr lang="ru-RU" dirty="0">
                <a:solidFill>
                  <a:schemeClr val="tx1"/>
                </a:solidFill>
              </a:rPr>
              <a:t>Нет коллапса в</a:t>
            </a:r>
            <a:r>
              <a:rPr lang="en-US" dirty="0"/>
              <a:t> single-round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rephrased (n=1)</a:t>
            </a:r>
            <a:r>
              <a:rPr lang="ru-RU" dirty="0">
                <a:solidFill>
                  <a:schemeClr val="tx1"/>
                </a:solidFill>
              </a:rPr>
              <a:t>, в отличии от </a:t>
            </a:r>
            <a:r>
              <a:rPr lang="en-US" dirty="0">
                <a:solidFill>
                  <a:schemeClr val="tx1"/>
                </a:solidFill>
              </a:rPr>
              <a:t>textbook-</a:t>
            </a:r>
            <a:r>
              <a:rPr lang="ru-RU" dirty="0">
                <a:solidFill>
                  <a:schemeClr val="tx1"/>
                </a:solidFill>
              </a:rPr>
              <a:t>смесей.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Крупные генераторы (70</a:t>
            </a:r>
            <a:r>
              <a:rPr lang="en-US" dirty="0">
                <a:solidFill>
                  <a:schemeClr val="tx1"/>
                </a:solidFill>
              </a:rPr>
              <a:t>B) </a:t>
            </a:r>
            <a:r>
              <a:rPr lang="ru-RU" dirty="0">
                <a:solidFill>
                  <a:schemeClr val="tx1"/>
                </a:solidFill>
              </a:rPr>
              <a:t>не всегда лучше компактных моделей с 8</a:t>
            </a:r>
            <a:r>
              <a:rPr lang="en-US" dirty="0">
                <a:solidFill>
                  <a:schemeClr val="tx1"/>
                </a:solidFill>
              </a:rPr>
              <a:t>B</a:t>
            </a:r>
            <a:r>
              <a:rPr lang="ru-RU" dirty="0">
                <a:solidFill>
                  <a:schemeClr val="tx1"/>
                </a:solidFill>
              </a:rPr>
              <a:t> параметрами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24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978C6-2727-47D6-91F5-607E6A93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2275"/>
          </a:xfrm>
        </p:spPr>
        <p:txBody>
          <a:bodyPr>
            <a:normAutofit/>
          </a:bodyPr>
          <a:lstStyle/>
          <a:p>
            <a:r>
              <a:rPr lang="ru-RU" dirty="0"/>
              <a:t>Экспериментальная постановка: датасеты и сценарии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F8C02-5E30-4118-9C50-E130837E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220480"/>
            <a:ext cx="102338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Датасеты</a:t>
            </a:r>
            <a:r>
              <a:rPr lang="ru-RU" dirty="0"/>
              <a:t>: </a:t>
            </a:r>
            <a:r>
              <a:rPr lang="en-US" dirty="0"/>
              <a:t>CommonCrawl (</a:t>
            </a:r>
            <a:r>
              <a:rPr lang="ru-RU" dirty="0"/>
              <a:t>натуральный веб, до 200</a:t>
            </a:r>
            <a:r>
              <a:rPr lang="en-US" dirty="0"/>
              <a:t>B </a:t>
            </a:r>
            <a:r>
              <a:rPr lang="ru-RU" dirty="0"/>
              <a:t>токенов); синтетика (</a:t>
            </a:r>
            <a:r>
              <a:rPr lang="en-US" dirty="0"/>
              <a:t>HQ/QA rephrasing, textbooks).</a:t>
            </a: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Смеси</a:t>
            </a:r>
            <a:r>
              <a:rPr lang="ru-RU" dirty="0"/>
              <a:t>: 100%, 67/33, 33/67 синтетика/натуральный.</a:t>
            </a: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Модели</a:t>
            </a:r>
            <a:r>
              <a:rPr lang="ru-RU" dirty="0"/>
              <a:t>: </a:t>
            </a:r>
            <a:r>
              <a:rPr lang="en-US" dirty="0"/>
              <a:t>Decoder-only </a:t>
            </a:r>
            <a:r>
              <a:rPr lang="ru-RU" dirty="0">
                <a:effectLst/>
              </a:rPr>
              <a:t>трансформеры</a:t>
            </a:r>
            <a:r>
              <a:rPr lang="en-US" dirty="0"/>
              <a:t> (Llama-3 base, 100M–3B </a:t>
            </a:r>
            <a:r>
              <a:rPr lang="ru-RU" dirty="0"/>
              <a:t>параметров с экстраполяцией до 400</a:t>
            </a:r>
            <a:r>
              <a:rPr lang="en-US" dirty="0"/>
              <a:t>B).</a:t>
            </a: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Оценка</a:t>
            </a:r>
            <a:r>
              <a:rPr lang="ru-RU" dirty="0"/>
              <a:t>: </a:t>
            </a:r>
            <a:r>
              <a:rPr lang="en-US" dirty="0"/>
              <a:t>Perplexity </a:t>
            </a:r>
            <a:r>
              <a:rPr lang="ru-RU" dirty="0"/>
              <a:t>на 14 доменах из </a:t>
            </a:r>
            <a:r>
              <a:rPr lang="en-US" dirty="0"/>
              <a:t>Pile + Wikitext-103</a:t>
            </a:r>
            <a:r>
              <a:rPr lang="ru-RU" dirty="0"/>
              <a:t>. В целом</a:t>
            </a:r>
            <a:r>
              <a:rPr lang="en-US" dirty="0"/>
              <a:t> </a:t>
            </a:r>
            <a:r>
              <a:rPr lang="ru-RU" dirty="0"/>
              <a:t> обучено </a:t>
            </a:r>
            <a:r>
              <a:rPr lang="en-US" dirty="0"/>
              <a:t>&gt;1000 </a:t>
            </a:r>
            <a:r>
              <a:rPr lang="ru-RU" dirty="0"/>
              <a:t>моделей и затрачено &gt;100</a:t>
            </a:r>
            <a:r>
              <a:rPr lang="en-US" dirty="0"/>
              <a:t>k GPU-</a:t>
            </a:r>
            <a:r>
              <a:rPr lang="ru-RU" dirty="0"/>
              <a:t>часов.</a:t>
            </a:r>
          </a:p>
        </p:txBody>
      </p:sp>
    </p:spTree>
    <p:extLst>
      <p:ext uri="{BB962C8B-B14F-4D97-AF65-F5344CB8AC3E}">
        <p14:creationId xmlns:p14="http://schemas.microsoft.com/office/powerpoint/2010/main" val="413630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29849-BEDC-4D4D-8D99-62D6AF82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8948057" cy="1325563"/>
          </a:xfrm>
        </p:spPr>
        <p:txBody>
          <a:bodyPr>
            <a:noAutofit/>
          </a:bodyPr>
          <a:lstStyle/>
          <a:p>
            <a:r>
              <a:rPr lang="ru-RU" dirty="0"/>
              <a:t>Обзор методов: генерация синтетических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12ABF1-EB5F-4C85-964F-A2E454708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391" y="2241261"/>
            <a:ext cx="10233800" cy="4351338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Web rephrasing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Генерация </a:t>
            </a:r>
            <a:r>
              <a:rPr lang="en-US" dirty="0">
                <a:solidFill>
                  <a:schemeClr val="tx1"/>
                </a:solidFill>
              </a:rPr>
              <a:t>HQ (clear style) </a:t>
            </a:r>
            <a:r>
              <a:rPr lang="ru-RU" dirty="0">
                <a:solidFill>
                  <a:schemeClr val="tx1"/>
                </a:solidFill>
              </a:rPr>
              <a:t>и </a:t>
            </a:r>
            <a:r>
              <a:rPr lang="en-US" dirty="0">
                <a:solidFill>
                  <a:schemeClr val="tx1"/>
                </a:solidFill>
              </a:rPr>
              <a:t>QA (conversational) </a:t>
            </a:r>
            <a:r>
              <a:rPr lang="ru-RU" dirty="0">
                <a:solidFill>
                  <a:schemeClr val="tx1"/>
                </a:solidFill>
              </a:rPr>
              <a:t>из </a:t>
            </a:r>
            <a:r>
              <a:rPr lang="en-US" dirty="0">
                <a:solidFill>
                  <a:schemeClr val="tx1"/>
                </a:solidFill>
              </a:rPr>
              <a:t>CommonCrawl</a:t>
            </a:r>
            <a:r>
              <a:rPr lang="ru-RU" dirty="0">
                <a:solidFill>
                  <a:schemeClr val="tx1"/>
                </a:solidFill>
              </a:rPr>
              <a:t> (СС)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 использованием </a:t>
            </a:r>
            <a:r>
              <a:rPr lang="en-US" dirty="0">
                <a:solidFill>
                  <a:schemeClr val="tx1"/>
                </a:solidFill>
              </a:rPr>
              <a:t>Mistral-7B-Instruct.</a:t>
            </a:r>
          </a:p>
          <a:p>
            <a:r>
              <a:rPr lang="en-US" dirty="0">
                <a:solidFill>
                  <a:srgbClr val="FFFF00"/>
                </a:solidFill>
              </a:rPr>
              <a:t>Synthetic textbooks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Новые полные главы из </a:t>
            </a:r>
            <a:r>
              <a:rPr lang="en-US" dirty="0">
                <a:solidFill>
                  <a:schemeClr val="tx1"/>
                </a:solidFill>
              </a:rPr>
              <a:t>CC-</a:t>
            </a:r>
            <a:r>
              <a:rPr lang="ru-RU" dirty="0">
                <a:solidFill>
                  <a:schemeClr val="tx1"/>
                </a:solidFill>
              </a:rPr>
              <a:t>ключевых слов с объяснениями, примерами  и упражнениями.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Генераторы</a:t>
            </a:r>
            <a:r>
              <a:rPr lang="ru-RU" dirty="0">
                <a:solidFill>
                  <a:schemeClr val="tx1"/>
                </a:solidFill>
              </a:rPr>
              <a:t>: 3</a:t>
            </a:r>
            <a:r>
              <a:rPr lang="en-US" dirty="0">
                <a:solidFill>
                  <a:schemeClr val="tx1"/>
                </a:solidFill>
              </a:rPr>
              <a:t>B/8B/70B </a:t>
            </a:r>
            <a:r>
              <a:rPr lang="ru-RU" dirty="0">
                <a:solidFill>
                  <a:schemeClr val="tx1"/>
                </a:solidFill>
              </a:rPr>
              <a:t>модели с использованиями разных промптов для стиля/качества.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Смеси</a:t>
            </a:r>
            <a:r>
              <a:rPr lang="ru-RU" dirty="0">
                <a:solidFill>
                  <a:schemeClr val="tx1"/>
                </a:solidFill>
              </a:rPr>
              <a:t>: Фиксированные пропорции в батчах для обеспечения равномерного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65647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F57CF-EC6B-455F-9FC7-53769EC9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11886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Законы масштабирования</a:t>
            </a:r>
            <a:r>
              <a:rPr lang="en-US" dirty="0"/>
              <a:t>: data scaling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036B07-DDD2-44A4-8CF2-F468C5CE6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825625"/>
                <a:ext cx="1062568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Анализ scaling laws проводился путём подгонки функции потерь (</a:t>
                </a:r>
                <a:r>
                  <a:rPr lang="ru-RU" dirty="0" err="1">
                    <a:solidFill>
                      <a:schemeClr val="tx1"/>
                    </a:solidFill>
                  </a:rPr>
                  <a:t>loss</a:t>
                </a:r>
                <a:r>
                  <a:rPr lang="ru-RU" dirty="0">
                    <a:solidFill>
                      <a:schemeClr val="tx1"/>
                    </a:solidFill>
                  </a:rPr>
                  <a:t>) к бюджету данных (до 200</a:t>
                </a:r>
                <a:r>
                  <a:rPr lang="en-US" dirty="0">
                    <a:solidFill>
                      <a:schemeClr val="tx1"/>
                    </a:solidFill>
                  </a:rPr>
                  <a:t>B </a:t>
                </a:r>
                <a:r>
                  <a:rPr lang="ru-RU" dirty="0">
                    <a:solidFill>
                      <a:schemeClr val="tx1"/>
                    </a:solidFill>
                  </a:rPr>
                  <a:t>токенов, с экстраполяцией до 8</a:t>
                </a:r>
                <a:r>
                  <a:rPr lang="en-US" dirty="0">
                    <a:solidFill>
                      <a:schemeClr val="tx1"/>
                    </a:solidFill>
                  </a:rPr>
                  <a:t>T</a:t>
                </a:r>
                <a:r>
                  <a:rPr lang="ru-RU" dirty="0">
                    <a:solidFill>
                      <a:schemeClr val="tx1"/>
                    </a:solidFill>
                  </a:rPr>
                  <a:t>).</a:t>
                </a:r>
              </a:p>
              <a:p>
                <a:pPr marL="0" indent="0"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Формула</a:t>
                </a:r>
                <a:r>
                  <a:rPr lang="ru-RU" dirty="0">
                    <a:solidFill>
                      <a:schemeClr val="tx1"/>
                    </a:solidFill>
                  </a:rPr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</m:acc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Смеси</a:t>
                </a:r>
                <a:r>
                  <a:rPr lang="ru-RU" dirty="0"/>
                  <a:t> (33% HQ/QA + CC) — лучше чистого CC после 20B токенов.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Чистая синтетика </a:t>
                </a:r>
                <a:r>
                  <a:rPr lang="ru-RU" dirty="0"/>
                  <a:t>—</a:t>
                </a:r>
                <a:r>
                  <a:rPr lang="en-US" dirty="0"/>
                  <a:t> </a:t>
                </a:r>
                <a:r>
                  <a:rPr lang="ru-RU" dirty="0"/>
                  <a:t>в целом хуже натуральных данных, но textbooks выигрывают на очень больших бюджетах.</a:t>
                </a:r>
                <a:br>
                  <a:rPr lang="en-US" dirty="0"/>
                </a:b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036B07-DDD2-44A4-8CF2-F468C5CE6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825625"/>
                <a:ext cx="10625686" cy="4351338"/>
              </a:xfrm>
              <a:blipFill>
                <a:blip r:embed="rId2"/>
                <a:stretch>
                  <a:fillRect l="-1205" t="-2241" r="-5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09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44059-DD0D-4AB5-8BE5-598E89A5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900" dirty="0"/>
              <a:t>Валидация формулы и экстраполированные кривые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2BB7F0B-BB2C-4202-89BA-75219CB87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14" y="2016269"/>
            <a:ext cx="11804771" cy="4198446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0895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1D582-633E-4B9A-BF85-533CF057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28314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Законы масштабирования</a:t>
            </a:r>
            <a:r>
              <a:rPr lang="en-US" dirty="0"/>
              <a:t>: model scaling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549DEE7-C02E-467A-8B24-F2914847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825625"/>
                <a:ext cx="10233800" cy="47493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Масштабирование моделей от 100</a:t>
                </a:r>
                <a:r>
                  <a:rPr lang="en-US" dirty="0"/>
                  <a:t>M </a:t>
                </a:r>
                <a:r>
                  <a:rPr lang="ru-RU" dirty="0"/>
                  <a:t>до 3</a:t>
                </a:r>
                <a:r>
                  <a:rPr lang="en-US" dirty="0"/>
                  <a:t>B</a:t>
                </a:r>
                <a:r>
                  <a:rPr lang="ru-RU" dirty="0"/>
                  <a:t> параметров проводилось при фиксированном бюджете данных в 50</a:t>
                </a:r>
                <a:r>
                  <a:rPr lang="en-US" dirty="0"/>
                  <a:t>M </a:t>
                </a:r>
                <a:r>
                  <a:rPr lang="ru-RU" dirty="0"/>
                  <a:t>токенов (с экстраполяцией до 400</a:t>
                </a:r>
                <a:r>
                  <a:rPr lang="en-US" dirty="0"/>
                  <a:t>B</a:t>
                </a:r>
                <a:r>
                  <a:rPr lang="ru-RU" dirty="0"/>
                  <a:t>).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Формула</a:t>
                </a:r>
                <a:r>
                  <a:rPr lang="ru-RU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</m:acc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m:rPr>
                        <m:lit/>
                      </m:rP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sup>
                    </m:sSup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Синтетика</a:t>
                </a:r>
                <a:r>
                  <a:rPr lang="ru-RU" dirty="0"/>
                  <a:t> менее выгодна для больших моделей. 67% синтетики ухудшают результат на крупных моделях, в то время как 33% остаются оптимальными, обеспечивая баланс между скоростью и качеством.</a:t>
                </a:r>
                <a:endParaRPr lang="en-US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549DEE7-C02E-467A-8B24-F2914847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825625"/>
                <a:ext cx="10233800" cy="4749346"/>
              </a:xfrm>
              <a:blipFill>
                <a:blip r:embed="rId2"/>
                <a:stretch>
                  <a:fillRect l="-12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174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E4486-789C-49EA-B868-8EE85AF8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Валидация формулы и экстраполированные кривые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7CC651-523E-48BF-812D-AC6DA2A34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" y="1968153"/>
            <a:ext cx="11849101" cy="42070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4515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ED234-0A8E-4FD2-AB0F-376759A8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6928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Законы масштабирования</a:t>
            </a:r>
            <a:r>
              <a:rPr lang="en-US" dirty="0"/>
              <a:t>: irreducible loss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EC51870-D707-4FBB-8095-873EB72A99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rgbClr val="FFFF00"/>
                    </a:solidFill>
                  </a:rPr>
                  <a:t>Неустранимая потеря </a:t>
                </a:r>
                <a:r>
                  <a:rPr lang="ru-RU" dirty="0"/>
                  <a:t>(E в формуле scaling laws) оказывается ниже в смесях: 33% HQ + 67% CC даёт минимальное значение, что опровергает некоторые теории о неизбежном коллапсе. Чистая QA-синтетика показывает худшие результаты (высокая E), в то время как учебники конкурентоспособны, но с рисками. </a:t>
                </a:r>
                <a:endParaRPr lang="ru-RU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ℒ</m:t>
                          </m:r>
                        </m:e>
                      </m:acc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m:rPr>
                          <m:lit/>
                        </m:rP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m:rPr>
                          <m:lit/>
                        </m:rP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/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β</m:t>
                          </m:r>
                        </m:sup>
                      </m:sSup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EC51870-D707-4FBB-8095-873EB72A9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1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41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5898D1-CDD4-4303-AA63-C322FE7CB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004" y="176980"/>
            <a:ext cx="10573992" cy="6504040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4588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CE6D5-2507-4D9A-80C0-E4C37363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Дополнительные исследования: пропорции смесей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97A780-AC1A-4F0C-B416-084448838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Проведён </a:t>
            </a:r>
            <a:r>
              <a:rPr lang="ru-RU" dirty="0" err="1"/>
              <a:t>grid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 от 0% до 100% синтетики на моделях разных масштабов (200M–1B параметров, 1B–50B токенов).</a:t>
            </a: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Оптимальные пропорции </a:t>
            </a:r>
            <a:r>
              <a:rPr lang="ru-RU" dirty="0"/>
              <a:t>сходятся к ~30% для HQ и QA синтетики; для учебников — менее 5% на малых моделях, с ростом до ~30% на крупных, но всё равно ниже перефразированной.</a:t>
            </a:r>
          </a:p>
          <a:p>
            <a:pPr marL="0" indent="0">
              <a:buNone/>
            </a:pPr>
            <a:r>
              <a:rPr lang="ru-RU" dirty="0"/>
              <a:t>С увеличением бюджета и размера модели оптимум стабилизируется на 30%, обеспечивая наилучший баланс разнообразия и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3154132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9965F-77DF-41D7-A574-A9CA11AB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plots </a:t>
            </a:r>
            <a:r>
              <a:rPr lang="ru-RU" dirty="0"/>
              <a:t>по пропорциям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C8D4C2A-B66A-459F-8167-95B9428E3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14" y="2258459"/>
            <a:ext cx="3987056" cy="313454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43EAA3-8D6C-427C-BB00-E6AAC7F31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870" y="2258456"/>
            <a:ext cx="3872078" cy="31345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F22EB9-D143-402D-8CFC-6915B85B9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948" y="2258456"/>
            <a:ext cx="3880029" cy="313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6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2E1A8-5C08-4A70-969C-DF20F9E9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Дополнительные исследования: возможности генераторов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4A910-585F-4C75-B226-DEB064C7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Рассмотрение по размерам генераторов (3B, 8B, 70B параметров) показала: 8B — оптимальный, превосходящий 3B и часто равный или лучший 70B. Крупные генераторы (70B) иногда хуже из-за артефактов и переусложнения.</a:t>
            </a:r>
          </a:p>
          <a:p>
            <a:pPr marL="0" indent="0">
              <a:buNone/>
            </a:pPr>
            <a:r>
              <a:rPr lang="ru-RU" dirty="0"/>
              <a:t>Тренды по процентам синтетики подтверждают плато: нет значительной выгоды от генераторов больше 8B, что делает их экономически выгодными для практики.</a:t>
            </a:r>
          </a:p>
        </p:txBody>
      </p:sp>
    </p:spTree>
    <p:extLst>
      <p:ext uri="{BB962C8B-B14F-4D97-AF65-F5344CB8AC3E}">
        <p14:creationId xmlns:p14="http://schemas.microsoft.com/office/powerpoint/2010/main" val="926476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62414-390C-415F-A8DD-DFDD6F5F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Тренды</a:t>
            </a:r>
            <a:r>
              <a:rPr lang="en-US" dirty="0"/>
              <a:t> </a:t>
            </a:r>
            <a:r>
              <a:rPr lang="ru-RU" dirty="0"/>
              <a:t>по проценту синтетики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CAB01EA-6B0C-4B72-8941-230A6C5F8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30" y="1836015"/>
            <a:ext cx="5583970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C9DD53-A322-4018-8995-1AEC849D0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6"/>
          <a:stretch/>
        </p:blipFill>
        <p:spPr>
          <a:xfrm>
            <a:off x="6096000" y="1836015"/>
            <a:ext cx="56323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8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8214C-A698-4044-B55B-7F5DAAC8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Обсуждение: модельный коллапс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259E7-5497-4196-B12E-B69E6E403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перефразированной синтетике (однократный тренинг, n=1) модельный коллапс не наблюдается даже на больших масштабах. Однако в смесях с учебниками проявляются признаки коллапса, что согласуется с теоретическими моделями.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Смеси в целом минимизируют риски, балансируя разнообразие натуральных данных с качеством синтетики.</a:t>
            </a:r>
          </a:p>
        </p:txBody>
      </p:sp>
    </p:spTree>
    <p:extLst>
      <p:ext uri="{BB962C8B-B14F-4D97-AF65-F5344CB8AC3E}">
        <p14:creationId xmlns:p14="http://schemas.microsoft.com/office/powerpoint/2010/main" val="117850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E3251-4701-4BF5-8DF3-542A51AA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70818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Ограничения работы и открытые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A7BE6-F01C-49E6-AD5F-99DD6169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Ограничения</a:t>
            </a:r>
            <a:r>
              <a:rPr lang="ru-RU" dirty="0">
                <a:solidFill>
                  <a:schemeClr val="tx1"/>
                </a:solidFill>
              </a:rPr>
              <a:t>: исследование охватывает только ограниченные типы синтетики (перефразирование и учебники); фокус на перплексии как метрике; одностадийное предобучение; масштабы до 3B параметров.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00"/>
                </a:solidFill>
              </a:rPr>
              <a:t>Открытые вопросы</a:t>
            </a:r>
            <a:r>
              <a:rPr lang="ru-RU" dirty="0">
                <a:solidFill>
                  <a:schemeClr val="tx1"/>
                </a:solidFill>
              </a:rPr>
              <a:t>: как использовать целевую генерацию (targeted generation) для конкретных доменов; динамическое смешивание (dynamic mixing) во время обучения; долгосрочные оценки производительности; многостадийный коллапс в итеративной генерации.</a:t>
            </a:r>
          </a:p>
        </p:txBody>
      </p:sp>
    </p:spTree>
    <p:extLst>
      <p:ext uri="{BB962C8B-B14F-4D97-AF65-F5344CB8AC3E}">
        <p14:creationId xmlns:p14="http://schemas.microsoft.com/office/powerpoint/2010/main" val="2499041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7306A-C458-4F24-B3CD-925A991F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80D9A9-C80A-4646-BD33-BE6405545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Синтетические данные особенно полезны в смесях: ~30% перефразированной синтетики с натуральными данными ускоряет сходимость в 5–10 раз. Рекомендуется избегать чистой синтетики и чрезмерного использования учебников; оптимальные генераторы — около 8B параметров. Нет сильного коллапса в перефразированной синтетике, но будущие исследования должны фокусироваться на целевых и динамических методах для дальнейшего улучшения.</a:t>
            </a:r>
          </a:p>
        </p:txBody>
      </p:sp>
    </p:spTree>
    <p:extLst>
      <p:ext uri="{BB962C8B-B14F-4D97-AF65-F5344CB8AC3E}">
        <p14:creationId xmlns:p14="http://schemas.microsoft.com/office/powerpoint/2010/main" val="352369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6DAD8C7-ECAA-444F-A44E-F82DF5287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4514"/>
            <a:ext cx="12192000" cy="687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215CEAC-6616-4302-A531-FE46897B9943}"/>
              </a:ext>
            </a:extLst>
          </p:cNvPr>
          <p:cNvSpPr txBox="1">
            <a:spLocks/>
          </p:cNvSpPr>
          <p:nvPr/>
        </p:nvSpPr>
        <p:spPr>
          <a:xfrm>
            <a:off x="2502298" y="2344134"/>
            <a:ext cx="7634468" cy="78076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9671397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1471</TotalTime>
  <Words>976</Words>
  <Application>Microsoft Office PowerPoint</Application>
  <PresentationFormat>Широкоэкранный</PresentationFormat>
  <Paragraphs>70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Cambria Math</vt:lpstr>
      <vt:lpstr>Corbel</vt:lpstr>
      <vt:lpstr>Глубина</vt:lpstr>
      <vt:lpstr>Demystifying Synthetic Data in LLM Pre-training: A Systematic Study of Scaling Laws, Benefits, and Pitfalls</vt:lpstr>
      <vt:lpstr>Почему это важно?</vt:lpstr>
      <vt:lpstr>Вопросы исследования</vt:lpstr>
      <vt:lpstr>Краткий тезис</vt:lpstr>
      <vt:lpstr>Экспериментальная постановка: датасеты и сценарии</vt:lpstr>
      <vt:lpstr>Обзор методов: генерация синтетических данных</vt:lpstr>
      <vt:lpstr>Законы масштабирования: data scaling</vt:lpstr>
      <vt:lpstr>Валидация формулы и экстраполированные кривые</vt:lpstr>
      <vt:lpstr>Законы масштабирования: model scaling</vt:lpstr>
      <vt:lpstr>Валидация формулы и экстраполированные кривые</vt:lpstr>
      <vt:lpstr>Законы масштабирования: irreducible loss</vt:lpstr>
      <vt:lpstr>Презентация PowerPoint</vt:lpstr>
      <vt:lpstr>Дополнительные исследования: пропорции смесей</vt:lpstr>
      <vt:lpstr>line plots по пропорциям</vt:lpstr>
      <vt:lpstr>Дополнительные исследования: возможности генераторов</vt:lpstr>
      <vt:lpstr>Тренды по проценту синтетики</vt:lpstr>
      <vt:lpstr>Обсуждение: модельный коллапс</vt:lpstr>
      <vt:lpstr>Ограничения работы и открытые вопросы</vt:lpstr>
      <vt:lpstr>Выводы и рекомендации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Faster Xaos</dc:creator>
  <cp:lastModifiedBy>Faster Xaos</cp:lastModifiedBy>
  <cp:revision>69</cp:revision>
  <dcterms:created xsi:type="dcterms:W3CDTF">2025-11-20T14:42:30Z</dcterms:created>
  <dcterms:modified xsi:type="dcterms:W3CDTF">2025-11-29T07:26:05Z</dcterms:modified>
</cp:coreProperties>
</file>